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4F24FB1-FDBF-B3A0-14F0-2C448A991E6C}">
          <p14:sldIdLst>
            <p14:sldId id="256"/>
            <p14:sldId id="257"/>
          </p14:sldIdLst>
        </p14:section>
        <p14:section name="Breakdowns" id="{38F9B778-A233-5AC1-FDE0-B414720AF792}">
          <p14:sldIdLst>
            <p14:sldId id="258"/>
            <p14:sldId id="259"/>
            <p14:sldId id="260"/>
            <p14:sldId id="261"/>
          </p14:sldIdLst>
        </p14:section>
        <p14:section name="Takeaways" id="{3AF4503B-495E-8FDE-62AB-376338E82DA1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chemeClr val="tx1"/>
                </a:solidFill>
                <a:latin typeface="Arial"/>
              </a:defRPr>
            </a:pPr>
            <a:r>
              <a:rPr lang="en-IN" sz="1400" b="1" i="0" u="none" strike="noStrike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Sales by category (¥M)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(¥M)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&quot;¥&quot;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chemeClr val="tx1"/>
                    </a:solidFill>
                    <a:latin typeface="Gadugi" panose="020B0502040204020203" pitchFamily="34" charset="0"/>
                    <a:ea typeface="Gadugi" panose="020B050204020402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Cameras &amp; Photography</c:v>
                </c:pt>
                <c:pt idx="1">
                  <c:v>Smartphones &amp; Mobile</c:v>
                </c:pt>
                <c:pt idx="2">
                  <c:v>Gaming &amp; TV</c:v>
                </c:pt>
                <c:pt idx="3">
                  <c:v>Laptops &amp; Computers</c:v>
                </c:pt>
                <c:pt idx="4">
                  <c:v>Home Appliances</c:v>
                </c:pt>
                <c:pt idx="5">
                  <c:v>Audio &amp; Headphones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8.07</c:v>
                </c:pt>
                <c:pt idx="1">
                  <c:v>5.21</c:v>
                </c:pt>
                <c:pt idx="2">
                  <c:v>3.66</c:v>
                </c:pt>
                <c:pt idx="3">
                  <c:v>3.66</c:v>
                </c:pt>
                <c:pt idx="4">
                  <c:v>2.0699999999999998</c:v>
                </c:pt>
                <c:pt idx="5">
                  <c:v>1.53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EE-4BDD-9D88-1C149F3227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pPr>
            <a:r>
              <a:rPr lang="en-IN" sz="1400" b="1" i="0" u="none" strike="noStrike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Daily sales (¥M)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sales (¥M)</c:v>
                </c:pt>
              </c:strCache>
            </c:strRef>
          </c:tx>
          <c:spPr>
            <a:ln w="38100" cap="flat">
              <a:solidFill>
                <a:srgbClr val="C810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1.0900000000000001</c:v>
                </c:pt>
                <c:pt idx="1">
                  <c:v>1.56</c:v>
                </c:pt>
                <c:pt idx="2">
                  <c:v>0.2</c:v>
                </c:pt>
                <c:pt idx="3">
                  <c:v>1.2</c:v>
                </c:pt>
                <c:pt idx="4">
                  <c:v>1.04</c:v>
                </c:pt>
                <c:pt idx="5">
                  <c:v>0.28000000000000003</c:v>
                </c:pt>
                <c:pt idx="6">
                  <c:v>1.04</c:v>
                </c:pt>
                <c:pt idx="7">
                  <c:v>1.1000000000000001</c:v>
                </c:pt>
                <c:pt idx="8">
                  <c:v>0.16</c:v>
                </c:pt>
                <c:pt idx="9">
                  <c:v>0.59</c:v>
                </c:pt>
                <c:pt idx="10">
                  <c:v>0.74</c:v>
                </c:pt>
                <c:pt idx="11">
                  <c:v>0.48</c:v>
                </c:pt>
                <c:pt idx="12">
                  <c:v>0.19</c:v>
                </c:pt>
                <c:pt idx="13">
                  <c:v>1.1499999999999999</c:v>
                </c:pt>
                <c:pt idx="14">
                  <c:v>0.94</c:v>
                </c:pt>
                <c:pt idx="15">
                  <c:v>0.2</c:v>
                </c:pt>
                <c:pt idx="16">
                  <c:v>0.48</c:v>
                </c:pt>
                <c:pt idx="17">
                  <c:v>1.0900000000000001</c:v>
                </c:pt>
                <c:pt idx="18">
                  <c:v>0.43</c:v>
                </c:pt>
                <c:pt idx="19">
                  <c:v>0.28000000000000003</c:v>
                </c:pt>
                <c:pt idx="20">
                  <c:v>2.0499999999999998</c:v>
                </c:pt>
                <c:pt idx="21">
                  <c:v>0.93</c:v>
                </c:pt>
                <c:pt idx="22">
                  <c:v>1.39</c:v>
                </c:pt>
                <c:pt idx="23">
                  <c:v>0.98</c:v>
                </c:pt>
                <c:pt idx="24">
                  <c:v>1.2</c:v>
                </c:pt>
                <c:pt idx="25">
                  <c:v>0.78</c:v>
                </c:pt>
                <c:pt idx="26">
                  <c:v>0.41</c:v>
                </c:pt>
                <c:pt idx="27">
                  <c:v>1.87</c:v>
                </c:pt>
                <c:pt idx="28">
                  <c:v>0.3</c:v>
                </c:pt>
                <c:pt idx="29">
                  <c:v>0.09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11-4414-AD67-F60D8C94AF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1" i="0" u="none" strike="noStrike">
                    <a:solidFill>
                      <a:schemeClr val="tx1"/>
                    </a:solidFill>
                    <a:latin typeface="Gadugi" panose="020B0502040204020203" pitchFamily="34" charset="0"/>
                    <a:ea typeface="Gadugi" panose="020B0502040204020203" pitchFamily="34" charset="0"/>
                  </a:defRPr>
                </a:pPr>
                <a:r>
                  <a:rPr lang="en-IN" sz="1100" b="1" i="0" u="none" strike="noStrike">
                    <a:solidFill>
                      <a:schemeClr val="tx1"/>
                    </a:solidFill>
                    <a:latin typeface="Gadugi" panose="020B0502040204020203" pitchFamily="34" charset="0"/>
                    <a:ea typeface="Gadugi" panose="020B0502040204020203" pitchFamily="34" charset="0"/>
                  </a:rPr>
                  <a:t>Day of September 2026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method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3F0-4C7A-8C6E-5A20901096DC}"/>
              </c:ext>
            </c:extLst>
          </c:dPt>
          <c:dPt>
            <c:idx val="1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3F0-4C7A-8C6E-5A20901096DC}"/>
              </c:ext>
            </c:extLst>
          </c:dPt>
          <c:dPt>
            <c:idx val="2"/>
            <c:bubble3D val="0"/>
            <c:spPr>
              <a:solidFill>
                <a:srgbClr val="8C1D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3F0-4C7A-8C6E-5A20901096DC}"/>
              </c:ext>
            </c:extLst>
          </c:dPt>
          <c:dPt>
            <c:idx val="3"/>
            <c:bubble3D val="0"/>
            <c:spPr>
              <a:solidFill>
                <a:srgbClr val="5B67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3F0-4C7A-8C6E-5A20901096DC}"/>
              </c:ext>
            </c:extLst>
          </c:dPt>
          <c:dPt>
            <c:idx val="4"/>
            <c:bubble3D val="0"/>
            <c:spPr>
              <a:solidFill>
                <a:srgbClr val="E8A0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3F0-4C7A-8C6E-5A20901096DC}"/>
              </c:ext>
            </c:extLst>
          </c:dPt>
          <c:dPt>
            <c:idx val="5"/>
            <c:bubble3D val="0"/>
            <c:spPr>
              <a:solidFill>
                <a:srgbClr val="2E7D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3F0-4C7A-8C6E-5A20901096D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Gadugi" panose="020B0502040204020203" pitchFamily="34" charset="0"/>
                      <a:ea typeface="Gadugi" panose="020B0502040204020203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3F0-4C7A-8C6E-5A20901096D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Gadugi" panose="020B0502040204020203" pitchFamily="34" charset="0"/>
                      <a:ea typeface="Gadugi" panose="020B0502040204020203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3F0-4C7A-8C6E-5A20901096D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Gadugi" panose="020B0502040204020203" pitchFamily="34" charset="0"/>
                      <a:ea typeface="Gadugi" panose="020B0502040204020203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3F0-4C7A-8C6E-5A20901096D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Gadugi" panose="020B0502040204020203" pitchFamily="34" charset="0"/>
                      <a:ea typeface="Gadugi" panose="020B0502040204020203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3F0-4C7A-8C6E-5A20901096DC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Gadugi" panose="020B0502040204020203" pitchFamily="34" charset="0"/>
                      <a:ea typeface="Gadugi" panose="020B0502040204020203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3F0-4C7A-8C6E-5A20901096DC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Gadugi" panose="020B0502040204020203" pitchFamily="34" charset="0"/>
                      <a:ea typeface="Gadugi" panose="020B0502040204020203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3F0-4C7A-8C6E-5A20901096D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Gadugi" panose="020B0502040204020203" pitchFamily="34" charset="0"/>
                    <a:ea typeface="Gadugi" panose="020B0502040204020203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Convenience Store</c:v>
                </c:pt>
                <c:pt idx="1">
                  <c:v>Gold Point Card</c:v>
                </c:pt>
                <c:pt idx="2">
                  <c:v>Cash on Delivery</c:v>
                </c:pt>
                <c:pt idx="3">
                  <c:v>LINE Pay</c:v>
                </c:pt>
                <c:pt idx="4">
                  <c:v>PayPay</c:v>
                </c:pt>
                <c:pt idx="5">
                  <c:v>Credit Card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6.03</c:v>
                </c:pt>
                <c:pt idx="1">
                  <c:v>4.8600000000000003</c:v>
                </c:pt>
                <c:pt idx="2">
                  <c:v>4.2699999999999996</c:v>
                </c:pt>
                <c:pt idx="3">
                  <c:v>4.08</c:v>
                </c:pt>
                <c:pt idx="4">
                  <c:v>3.08</c:v>
                </c:pt>
                <c:pt idx="5">
                  <c:v>1.88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3F0-4C7A-8C6E-5A20901096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 b="1">
              <a:solidFill>
                <a:srgbClr val="1F1A1A"/>
              </a:solidFill>
              <a:latin typeface="Gadugi" panose="020B0502040204020203" pitchFamily="34" charset="0"/>
              <a:ea typeface="Gadugi" panose="020B0502040204020203" pitchFamily="34" charset="0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pPr>
            <a:r>
              <a:rPr lang="en-GB" sz="1400" b="1" i="0" u="none" strike="noStrike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Sales by fulfillment store (¥M)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(¥M)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chemeClr val="tx1"/>
                    </a:solidFill>
                    <a:latin typeface="Gadugi" panose="020B0502040204020203" pitchFamily="34" charset="0"/>
                    <a:ea typeface="Gadugi" panose="020B050204020402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Hakata</c:v>
                </c:pt>
                <c:pt idx="1">
                  <c:v>Sendai</c:v>
                </c:pt>
                <c:pt idx="2">
                  <c:v>Umeda</c:v>
                </c:pt>
                <c:pt idx="3">
                  <c:v>Shinjuku West</c:v>
                </c:pt>
                <c:pt idx="4">
                  <c:v>Online</c:v>
                </c:pt>
                <c:pt idx="5">
                  <c:v>Kyouto</c:v>
                </c:pt>
                <c:pt idx="6">
                  <c:v>Yokohama</c:v>
                </c:pt>
                <c:pt idx="7">
                  <c:v>Akihabara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4.4800000000000004</c:v>
                </c:pt>
                <c:pt idx="1">
                  <c:v>3.72</c:v>
                </c:pt>
                <c:pt idx="2">
                  <c:v>3.47</c:v>
                </c:pt>
                <c:pt idx="3">
                  <c:v>3.12</c:v>
                </c:pt>
                <c:pt idx="4">
                  <c:v>2.83</c:v>
                </c:pt>
                <c:pt idx="5">
                  <c:v>2.5</c:v>
                </c:pt>
                <c:pt idx="6">
                  <c:v>2.2999999999999998</c:v>
                </c:pt>
                <c:pt idx="7">
                  <c:v>1.79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A-4F6E-A27C-28AFC7B724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290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Yodobashi E-Commerce Sales Dashboard: one month of order data (1–30 September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KPIs from the dashboard cards: total subtotal ¥24,205,060; 200 orders; 2,420,506 Gold Points. Average order value is derived (¥121,025).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Cameras &amp; Photography: ¥8.07M from 28 orders (avg ≈ ¥288K per order). Audio &amp; Headphones: 40 orders, ¥1.53M.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Largest days: 21 Sep (¥2.05M), 28 Sep (¥1.87M), 2 Sep (¥1.56M). Day-to-day swings are driven more by order value than order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Convenience Store ¥6.03M (24.9%), Gold Point Card ¥4.86M (20.1%), COD ¥4.27M (17.6%), LINE Pay ¥4.08M (16.9%), PayPay ¥3.08M (12.7%), Credit Card ¥1.88M (7.7%).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Hakata ¥4.48M (18.5%), Sendai ¥3.72M, Umeda ¥3.47M, Shinjuku West Main ¥3.12M, Yodobashi.com (Online) ¥2.83M, Kyouto ¥2.50M, Yokohama ¥2.30M, Akihabara ¥1.79M (7.4%).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derived from the dashboard data; adjust to your own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6692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Source: Yodobashi E-Commerce Sales Dashboard · 200 orders · 1–30 Sep 2026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large"/>
          <p:cNvSpPr/>
          <p:nvPr/>
        </p:nvSpPr>
        <p:spPr>
          <a:xfrm>
            <a:off x="6035040" y="822960"/>
            <a:ext cx="3108960" cy="3108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Motif circle gold"/>
          <p:cNvSpPr/>
          <p:nvPr/>
        </p:nvSpPr>
        <p:spPr>
          <a:xfrm>
            <a:off x="7178040" y="3063240"/>
            <a:ext cx="1737360" cy="1737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200" b="1" dirty="0">
                <a:solidFill>
                  <a:schemeClr val="bg1"/>
                </a:solidFill>
              </a:rPr>
              <a:t>Yodobashi E-Commerce Sales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September 2026 performance review</a:t>
            </a:r>
            <a:endParaRPr lang="en-US" sz="20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34747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200 orders · 6 categories · 8 fulfillment stores</a:t>
            </a:r>
            <a:endParaRPr lang="en-US" sz="14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 ¥24.2M month across 200 orders</a:t>
            </a:r>
            <a:endParaRPr lang="en-US" sz="3200" dirty="0"/>
          </a:p>
        </p:txBody>
      </p:sp>
      <p:sp>
        <p:nvSpPr>
          <p:cNvPr id="3" name="KPI card 1"/>
          <p:cNvSpPr/>
          <p:nvPr/>
        </p:nvSpPr>
        <p:spPr>
          <a:xfrm>
            <a:off x="457200" y="1371600"/>
            <a:ext cx="19202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¥24.2M</a:t>
            </a:r>
            <a:endParaRPr lang="en-US" sz="36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Gadugi" panose="020B0502040204020203" pitchFamily="34" charset="0"/>
                <a:ea typeface="Gadugi" panose="020B0502040204020203" pitchFamily="34" charset="0"/>
              </a:rPr>
              <a:t>Total sales (subtotal)</a:t>
            </a:r>
          </a:p>
        </p:txBody>
      </p:sp>
      <p:sp>
        <p:nvSpPr>
          <p:cNvPr id="6" name="KPI card 2"/>
          <p:cNvSpPr/>
          <p:nvPr/>
        </p:nvSpPr>
        <p:spPr>
          <a:xfrm>
            <a:off x="2560320" y="1371600"/>
            <a:ext cx="19202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9748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200</a:t>
            </a:r>
            <a:endParaRPr lang="en-US" sz="36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6974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Gadugi" panose="020B0502040204020203" pitchFamily="34" charset="0"/>
                <a:ea typeface="Gadugi" panose="020B0502040204020203" pitchFamily="34" charset="0"/>
              </a:rPr>
              <a:t>Orders placed</a:t>
            </a:r>
          </a:p>
        </p:txBody>
      </p:sp>
      <p:sp>
        <p:nvSpPr>
          <p:cNvPr id="9" name="KPI card 3"/>
          <p:cNvSpPr/>
          <p:nvPr/>
        </p:nvSpPr>
        <p:spPr>
          <a:xfrm>
            <a:off x="4663440" y="1371600"/>
            <a:ext cx="19202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¥121K</a:t>
            </a:r>
            <a:endParaRPr lang="en-US" sz="36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80060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Gadugi" panose="020B0502040204020203" pitchFamily="34" charset="0"/>
                <a:ea typeface="Gadugi" panose="020B0502040204020203" pitchFamily="34" charset="0"/>
              </a:rPr>
              <a:t>Average order value</a:t>
            </a:r>
          </a:p>
        </p:txBody>
      </p:sp>
      <p:sp>
        <p:nvSpPr>
          <p:cNvPr id="12" name="KPI card 4"/>
          <p:cNvSpPr/>
          <p:nvPr/>
        </p:nvSpPr>
        <p:spPr>
          <a:xfrm>
            <a:off x="6766560" y="1371600"/>
            <a:ext cx="19202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0372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2.42M</a:t>
            </a:r>
            <a:endParaRPr lang="en-US" sz="36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90372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Gadugi" panose="020B0502040204020203" pitchFamily="34" charset="0"/>
                <a:ea typeface="Gadugi" panose="020B0502040204020203" pitchFamily="34" charset="0"/>
              </a:rPr>
              <a:t>Gold Points earned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Gold Points equal exactly 10% of every order’s subtotal, so points issued scale one-for-one with sales. 279 units were sold in total.</a:t>
            </a:r>
            <a:endParaRPr lang="en-US" sz="16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Cameras drive a third of sales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456693141"/>
              </p:ext>
            </p:extLst>
          </p:nvPr>
        </p:nvGraphicFramePr>
        <p:xfrm>
          <a:off x="457200" y="118872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llout cameras"/>
          <p:cNvSpPr/>
          <p:nvPr/>
        </p:nvSpPr>
        <p:spPr>
          <a:xfrm>
            <a:off x="6126480" y="118872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0936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33%</a:t>
            </a:r>
            <a:endParaRPr lang="en-US" sz="44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30936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of sales from just 14% of orders</a:t>
            </a:r>
            <a:endParaRPr lang="en-US" sz="1400"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7" name="Callout audio"/>
          <p:cNvSpPr/>
          <p:nvPr/>
        </p:nvSpPr>
        <p:spPr>
          <a:xfrm>
            <a:off x="6126480" y="297180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0936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20%</a:t>
            </a:r>
            <a:endParaRPr lang="en-US" sz="44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30936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of orders are audio, but only 6% of sales</a:t>
            </a:r>
            <a:endParaRPr lang="en-US" sz="1400"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Daily sales are spiky, peaking on 21 Sep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50574400"/>
              </p:ext>
            </p:extLst>
          </p:nvPr>
        </p:nvGraphicFramePr>
        <p:xfrm>
          <a:off x="457200" y="118872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rend callout 1"/>
          <p:cNvSpPr/>
          <p:nvPr/>
        </p:nvSpPr>
        <p:spPr>
          <a:xfrm>
            <a:off x="6400800" y="1188720"/>
            <a:ext cx="22860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58368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¥2.05M</a:t>
            </a:r>
            <a:endParaRPr lang="en-US" sz="36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58368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Gadugi" panose="020B0502040204020203" pitchFamily="34" charset="0"/>
                <a:ea typeface="Gadugi" panose="020B0502040204020203" pitchFamily="34" charset="0"/>
              </a:rPr>
              <a:t>Peak day: 21 Sep (6 orders)</a:t>
            </a:r>
          </a:p>
        </p:txBody>
      </p:sp>
      <p:sp>
        <p:nvSpPr>
          <p:cNvPr id="7" name="Trend callout 2"/>
          <p:cNvSpPr/>
          <p:nvPr/>
        </p:nvSpPr>
        <p:spPr>
          <a:xfrm>
            <a:off x="6400800" y="2926080"/>
            <a:ext cx="22860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83680" y="3017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3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¥0.09M</a:t>
            </a:r>
            <a:endParaRPr lang="en-US" sz="36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583680" y="3794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Lowest day: 30 Sep (4 orders)</a:t>
            </a:r>
            <a:endParaRPr lang="en-US" sz="1400"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Cash-based payment is still king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630261861"/>
              </p:ext>
            </p:extLst>
          </p:nvPr>
        </p:nvGraphicFramePr>
        <p:xfrm>
          <a:off x="457200" y="118872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llout cash"/>
          <p:cNvSpPr/>
          <p:nvPr/>
        </p:nvSpPr>
        <p:spPr>
          <a:xfrm>
            <a:off x="5852160" y="1188720"/>
            <a:ext cx="28346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035040" y="1280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43%</a:t>
            </a:r>
            <a:endParaRPr lang="en-US" sz="44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03504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paid via convenience store or cash on delivery</a:t>
            </a:r>
            <a:endParaRPr lang="en-US" sz="1400"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7" name="Callout digital"/>
          <p:cNvSpPr/>
          <p:nvPr/>
        </p:nvSpPr>
        <p:spPr>
          <a:xfrm>
            <a:off x="5852160" y="2971800"/>
            <a:ext cx="28346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0" y="3063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37%</a:t>
            </a:r>
            <a:endParaRPr lang="en-US" sz="44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035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via LINE Pay, PayPay or credit card</a:t>
            </a:r>
            <a:endParaRPr lang="en-US" sz="1400"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Hakata leads fulfillment; online trails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687195536"/>
              </p:ext>
            </p:extLst>
          </p:nvPr>
        </p:nvGraphicFramePr>
        <p:xfrm>
          <a:off x="457200" y="1188720"/>
          <a:ext cx="58521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llout top3"/>
          <p:cNvSpPr/>
          <p:nvPr/>
        </p:nvSpPr>
        <p:spPr>
          <a:xfrm>
            <a:off x="6583680" y="1188720"/>
            <a:ext cx="2103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72084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48%</a:t>
            </a:r>
            <a:endParaRPr lang="en-US" sz="40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72084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from Hakata, Sendai and Umeda</a:t>
            </a:r>
            <a:endParaRPr lang="en-US" sz="14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7" name="Callout online"/>
          <p:cNvSpPr/>
          <p:nvPr/>
        </p:nvSpPr>
        <p:spPr>
          <a:xfrm>
            <a:off x="6583680" y="2971800"/>
            <a:ext cx="2103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720840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11.7%</a:t>
            </a:r>
            <a:endParaRPr lang="en-US" sz="40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72084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fulfilled by Yodobashi.com online</a:t>
            </a:r>
            <a:endParaRPr lang="en-US" sz="14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Number badg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1</a:t>
            </a:r>
            <a:endParaRPr lang="en-US" sz="22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554480" y="1508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Lean into high-value cameras</a:t>
            </a:r>
            <a:endParaRPr lang="en-US" sz="20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554480" y="19019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Cameras bring 33% of sales from 14% of orders; protect stock and promotion there.</a:t>
            </a:r>
            <a:endParaRPr lang="en-US" sz="14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7" name="Number badge 2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2</a:t>
            </a:r>
            <a:endParaRPr lang="en-US" sz="22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554480" y="2514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Meet customers where they pay</a:t>
            </a:r>
            <a:endParaRPr lang="en-US" sz="20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554480" y="29077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43% of sales settle in cash at a convenience store or on delivery; keep those flows smooth.</a:t>
            </a:r>
            <a:endParaRPr lang="en-US" sz="14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1" name="Number badge 3"/>
          <p:cNvSpPr/>
          <p:nvPr/>
        </p:nvSpPr>
        <p:spPr>
          <a:xfrm>
            <a:off x="640080" y="3566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520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Grow beyond the top stores</a:t>
            </a:r>
            <a:endParaRPr lang="en-US" sz="20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554480" y="39136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Three stores deliver 48% of sales; Akihabara (7%) and online (12%) are the upside.</a:t>
            </a:r>
            <a:endParaRPr lang="en-US" sz="14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odobashi Sales">
  <a:themeElements>
    <a:clrScheme name="Yodobashi Sales">
      <a:dk1>
        <a:srgbClr val="1F1A1A"/>
      </a:dk1>
      <a:lt1>
        <a:srgbClr val="FFFFFF"/>
      </a:lt1>
      <a:dk2>
        <a:srgbClr val="4A3F3F"/>
      </a:dk2>
      <a:lt2>
        <a:srgbClr val="F3F3F5"/>
      </a:lt2>
      <a:accent1>
        <a:srgbClr val="C8102E"/>
      </a:accent1>
      <a:accent2>
        <a:srgbClr val="D9A441"/>
      </a:accent2>
      <a:accent3>
        <a:srgbClr val="5B6770"/>
      </a:accent3>
      <a:accent4>
        <a:srgbClr val="8C1D2F"/>
      </a:accent4>
      <a:accent5>
        <a:srgbClr val="E8A0A8"/>
      </a:accent5>
      <a:accent6>
        <a:srgbClr val="2E7D6B"/>
      </a:accent6>
      <a:hlink>
        <a:srgbClr val="C8102E"/>
      </a:hlink>
      <a:folHlink>
        <a:srgbClr val="5B6770"/>
      </a:folHlink>
    </a:clrScheme>
    <a:fontScheme name="Yodobashi Sal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492</Words>
  <Application>Microsoft Office PowerPoint</Application>
  <PresentationFormat>On-screen Show (16:9)</PresentationFormat>
  <Paragraphs>72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Gadugi</vt:lpstr>
      <vt:lpstr>Yodobashi Sales</vt:lpstr>
      <vt:lpstr>Yodobashi E-Commerce Sales</vt:lpstr>
      <vt:lpstr>A ¥24.2M month across 200 orders</vt:lpstr>
      <vt:lpstr>Cameras drive a third of sales</vt:lpstr>
      <vt:lpstr>Daily sales are spiky, peaking on 21 Sep</vt:lpstr>
      <vt:lpstr>Cash-based payment is still king</vt:lpstr>
      <vt:lpstr>Hakata leads fulfillment; online trails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Yodobashi E-Commerce Sales – September 2026</dc:title>
  <dc:subject>PptxGenJS Presentation</dc:subject>
  <dc:creator>PptxGenJS</dc:creator>
  <cp:lastModifiedBy>Siddharth Burman</cp:lastModifiedBy>
  <cp:revision>3</cp:revision>
  <dcterms:created xsi:type="dcterms:W3CDTF">2026-10-25T05:26:15Z</dcterms:created>
  <dcterms:modified xsi:type="dcterms:W3CDTF">2026-10-25T05:44:23Z</dcterms:modified>
</cp:coreProperties>
</file>